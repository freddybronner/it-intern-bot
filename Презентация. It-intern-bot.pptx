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8" y="18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394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3B82F6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IT-Intern Bot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180136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Telegram-</a:t>
            </a:r>
            <a:r>
              <a:rPr lang="en-US" sz="22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бот</a:t>
            </a: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агрегатор IT-стажировок для студентов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</a:t>
            </a:r>
            <a:r>
              <a:rPr lang="ru-RU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Системный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Оберюхтин</a:t>
            </a:r>
            <a:r>
              <a:rPr lang="ru-RU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Даниил Денисович</a:t>
            </a:r>
            <a:endParaRPr lang="en-US" sz="13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33CB0BD-184F-4A69-8B4B-939E1C36D919}"/>
              </a:ext>
            </a:extLst>
          </p:cNvPr>
          <p:cNvSpPr/>
          <p:nvPr/>
        </p:nvSpPr>
        <p:spPr>
          <a:xfrm>
            <a:off x="731520" y="2450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@it_intern_stazh_bot</a:t>
            </a:r>
            <a:endParaRPr lang="en-US" sz="1300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6275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Проблем</a:t>
            </a:r>
            <a:r>
              <a:rPr lang="ru-RU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3611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3474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В чём проблема?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Студент </a:t>
            </a:r>
            <a:r>
              <a:rPr lang="en-US" sz="1100" dirty="0" err="1">
                <a:solidFill>
                  <a:srgbClr val="475569"/>
                </a:solidFill>
              </a:rPr>
              <a:t>тратит</a:t>
            </a:r>
            <a:r>
              <a:rPr lang="en-US" sz="1100" dirty="0">
                <a:solidFill>
                  <a:srgbClr val="475569"/>
                </a:solidFill>
              </a:rPr>
              <a:t> 30</a:t>
            </a:r>
            <a:r>
              <a:rPr lang="ru-RU" sz="1100" dirty="0">
                <a:solidFill>
                  <a:srgbClr val="475569"/>
                </a:solidFill>
              </a:rPr>
              <a:t>-</a:t>
            </a:r>
            <a:r>
              <a:rPr lang="en-US" sz="1100" dirty="0">
                <a:solidFill>
                  <a:srgbClr val="475569"/>
                </a:solidFill>
              </a:rPr>
              <a:t>40 мин/день на поиск, но пропускает вакансии и дедлайны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У кого?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Студенты IT-</a:t>
            </a:r>
            <a:r>
              <a:rPr lang="en-US" sz="1100" dirty="0" err="1">
                <a:solidFill>
                  <a:srgbClr val="475569"/>
                </a:solidFill>
              </a:rPr>
              <a:t>специальностей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ru-RU" sz="1100" dirty="0">
                <a:solidFill>
                  <a:srgbClr val="475569"/>
                </a:solidFill>
              </a:rPr>
              <a:t>2-</a:t>
            </a:r>
            <a:r>
              <a:rPr lang="en-US" sz="1100" dirty="0">
                <a:solidFill>
                  <a:srgbClr val="475569"/>
                </a:solidFill>
              </a:rPr>
              <a:t>4 </a:t>
            </a:r>
            <a:r>
              <a:rPr lang="en-US" sz="1100" dirty="0" err="1">
                <a:solidFill>
                  <a:srgbClr val="475569"/>
                </a:solidFill>
              </a:rPr>
              <a:t>курса</a:t>
            </a:r>
            <a:r>
              <a:rPr lang="ru-RU" sz="1100" dirty="0">
                <a:solidFill>
                  <a:srgbClr val="475569"/>
                </a:solidFill>
              </a:rPr>
              <a:t> + магистратура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</a:rPr>
              <a:t>Когда возникает?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В период поиска стажировки (3–6 </a:t>
            </a:r>
            <a:r>
              <a:rPr lang="en-US" sz="1100" dirty="0" err="1">
                <a:solidFill>
                  <a:srgbClr val="475569"/>
                </a:solidFill>
              </a:rPr>
              <a:t>мес</a:t>
            </a:r>
            <a:r>
              <a:rPr lang="en-US" sz="1100" dirty="0">
                <a:solidFill>
                  <a:srgbClr val="475569"/>
                </a:solidFill>
              </a:rPr>
              <a:t>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Что если не решить?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Пропущенные дедлайны, меньше откликов → шансы на стажировку падают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Как понять, что решена?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Поиск занимает 5 мин вместо 40, дедлайны не пропускаются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1051560"/>
            <a:ext cx="73152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5120640" y="10515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39%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400800" y="1051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сокращение IT-вакансий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205740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2057400"/>
            <a:ext cx="73152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057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00800" y="20574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откликов на 1 вакансию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306324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3063240"/>
            <a:ext cx="73152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30632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5–10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400800" y="3063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сайтов мониторит студент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4069080"/>
            <a:ext cx="384048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40690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hh.ru, </a:t>
            </a:r>
            <a:r>
              <a:rPr lang="en-US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iTrend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ЦА и </a:t>
            </a:r>
            <a:r>
              <a:rPr lang="en-US" sz="30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персонаж</a:t>
            </a: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(JTBD)</a:t>
            </a:r>
            <a:endParaRPr lang="en-US" sz="3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Целевая аудитория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Студенты IT, </a:t>
            </a:r>
            <a:r>
              <a:rPr lang="ru-RU" sz="1100" dirty="0">
                <a:solidFill>
                  <a:srgbClr val="334155"/>
                </a:solidFill>
              </a:rPr>
              <a:t>2-</a:t>
            </a:r>
            <a:r>
              <a:rPr lang="en-US" sz="1100" dirty="0">
                <a:solidFill>
                  <a:srgbClr val="334155"/>
                </a:solidFill>
              </a:rPr>
              <a:t>4 курс бакалавриата / 1</a:t>
            </a:r>
            <a:r>
              <a:rPr lang="ru-RU" sz="1100" dirty="0">
                <a:solidFill>
                  <a:srgbClr val="334155"/>
                </a:solidFill>
              </a:rPr>
              <a:t>-</a:t>
            </a:r>
            <a:r>
              <a:rPr lang="en-US" sz="1100" dirty="0">
                <a:solidFill>
                  <a:srgbClr val="334155"/>
                </a:solidFill>
              </a:rPr>
              <a:t>2 магистратуры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Признаки: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1</a:t>
            </a:r>
            <a:r>
              <a:rPr lang="ru-RU" sz="1100" dirty="0">
                <a:solidFill>
                  <a:srgbClr val="475569"/>
                </a:solidFill>
              </a:rPr>
              <a:t>8-</a:t>
            </a:r>
            <a:r>
              <a:rPr lang="en-US" sz="1100" dirty="0">
                <a:solidFill>
                  <a:srgbClr val="475569"/>
                </a:solidFill>
              </a:rPr>
              <a:t>24 года, без дохода, владеют ЯП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</a:rPr>
              <a:t>Россия, города с IT-компаниями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57200" y="3017520"/>
            <a:ext cx="411480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31520" y="310896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Объём рынка (SOM)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2600" b="1" dirty="0">
                <a:solidFill>
                  <a:srgbClr val="3B82F6"/>
                </a:solidFill>
              </a:rPr>
              <a:t>10–20 тыс.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стажёров/</a:t>
            </a:r>
            <a:r>
              <a:rPr lang="en-US" sz="1100" dirty="0" err="1">
                <a:solidFill>
                  <a:srgbClr val="475569"/>
                </a:solidFill>
              </a:rPr>
              <a:t>год</a:t>
            </a:r>
            <a:r>
              <a:rPr lang="en-US" sz="1100" dirty="0">
                <a:solidFill>
                  <a:srgbClr val="475569"/>
                </a:solidFill>
              </a:rPr>
              <a:t> </a:t>
            </a:r>
            <a:r>
              <a:rPr lang="ru-RU" sz="1100" dirty="0">
                <a:solidFill>
                  <a:srgbClr val="475569"/>
                </a:solidFill>
              </a:rPr>
              <a:t>-</a:t>
            </a:r>
            <a:r>
              <a:rPr lang="en-US" sz="1100" dirty="0">
                <a:solidFill>
                  <a:srgbClr val="475569"/>
                </a:solidFill>
              </a:rPr>
              <a:t> реально достижимый рынок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846320" y="1051560"/>
            <a:ext cx="384048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051560"/>
            <a:ext cx="384048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8"/>
          <p:cNvSpPr/>
          <p:nvPr/>
        </p:nvSpPr>
        <p:spPr>
          <a:xfrm>
            <a:off x="5029200" y="1097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JTBD Persona: Алексей, 21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029200" y="178308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</a:rPr>
              <a:t>Что хочет?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Найти стажировку, подать заявки в максимум компаний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</a:rPr>
              <a:t>Что мешает?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5</a:t>
            </a:r>
            <a:r>
              <a:rPr lang="ru-RU" sz="1000" dirty="0">
                <a:solidFill>
                  <a:srgbClr val="475569"/>
                </a:solidFill>
              </a:rPr>
              <a:t>-</a:t>
            </a:r>
            <a:r>
              <a:rPr lang="en-US" sz="1000" dirty="0">
                <a:solidFill>
                  <a:srgbClr val="475569"/>
                </a:solidFill>
              </a:rPr>
              <a:t>10 сайтов, разные формы, нет единой точки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</a:rPr>
              <a:t>Как решает сейчас?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hh.ru + сайты компаний + 3 TG-канала + Google Sheets. 30</a:t>
            </a:r>
            <a:r>
              <a:rPr lang="ru-RU" sz="1000" dirty="0">
                <a:solidFill>
                  <a:srgbClr val="475569"/>
                </a:solidFill>
              </a:rPr>
              <a:t>-</a:t>
            </a:r>
            <a:r>
              <a:rPr lang="en-US" sz="1000" dirty="0">
                <a:solidFill>
                  <a:srgbClr val="475569"/>
                </a:solidFill>
              </a:rPr>
              <a:t>40 мин/день. Пропустил 2 дедлайна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Триггер смены поведения?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Пропущенный дедлайн в «ту самую» компанию или совет одногруппника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Сценарии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2651760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3258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Поиск по стеку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94360" y="23774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найти стажировки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Шаги: /start </a:t>
            </a:r>
            <a:r>
              <a:rPr lang="ru-RU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</a:t>
            </a:r>
            <a:r>
              <a:rPr lang="en-US" sz="10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стеку</a:t>
            </a: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Карточки → Подробнее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Альт: ввод вручную, в избранное, ничего не найдено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37560" y="105156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337560" y="105156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32588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Избранное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74720" y="23774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вернуться к сохранённым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Шаги: Избранное → Список → Подробнее / Удалить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Альт: пустой список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17920" y="105156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051560"/>
            <a:ext cx="2651760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132588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Уведомления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55080" y="237744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не пропускать новые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Шаги: Подписки → Подписаться → Бот присылает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Альт: профиль не настроен, отписка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Требования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051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Иерархия требований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15087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Бизнес: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Единая точка доступа к стажировкам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Пользовательские: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Найти по стеку, сохранить, получать уведомления, перейти на сайт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Функциональные (9 шт.):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Регистрация, профиль, поиск LIKE, фильтр город+удалёнка, карточки, компании, избранное, подписки, импорт API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Системные: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Telegram Bot API, SQLite, inline-кнопки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0515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49240" y="10515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Нефункциональные требования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937760" y="15087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Производительность: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Ответ ≤ 2 сек (до 500 вакансий)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Удобство: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/start → результат за ≤ 5 действий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Надёжность: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Корректная обработка дублей в избранном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</a:rPr>
              <a:t>Ограничения: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Python 3.10+, aiogram 3.x, токен в env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7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aiogram 3.x · aiosqlite · SQLite · Telegram Bot API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743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Метрики и </a:t>
            </a:r>
            <a:r>
              <a:rPr lang="en-US" sz="26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декомпозиция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868680"/>
            <a:ext cx="1920240" cy="141732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868680"/>
            <a:ext cx="19202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100+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45720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Востребованность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&lt;30 → интервью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606040" y="868680"/>
            <a:ext cx="1920240" cy="141732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06040" y="868680"/>
            <a:ext cx="19202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9"/>
          <p:cNvSpPr/>
          <p:nvPr/>
        </p:nvSpPr>
        <p:spPr>
          <a:xfrm>
            <a:off x="260604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&gt;30%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260604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вернувшихся через 7 дней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60604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&lt;15% → нет ценности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54880" y="868680"/>
            <a:ext cx="1920240" cy="141732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754880" y="868680"/>
            <a:ext cx="19202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475488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&gt;10%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475488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Конверсия в переход по ссылке 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75488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&lt;5% → нерелевантно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903720" y="868680"/>
            <a:ext cx="1920240" cy="1417320"/>
          </a:xfrm>
          <a:prstGeom prst="rect">
            <a:avLst/>
          </a:prstGeom>
          <a:solidFill>
            <a:srgbClr val="1E3A5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903720" y="868680"/>
            <a:ext cx="192024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19"/>
          <p:cNvSpPr/>
          <p:nvPr/>
        </p:nvSpPr>
        <p:spPr>
          <a:xfrm>
            <a:off x="6903720" y="9601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&gt;2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6903720" y="14173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Количество поисков за сессию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903720" y="16916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1 → проверить конверсию</a:t>
            </a:r>
            <a:endParaRPr lang="en-US" sz="9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51460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91440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Топ-3 задачи для MVP</a:t>
            </a: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548640" y="2880360"/>
            <a:ext cx="4114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</a:rPr>
              <a:t>P0  Регистрация и профиль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</a:rPr>
              <a:t>P0  Поиск по стеку и городу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</a:rPr>
              <a:t>P0  Наполнение </a:t>
            </a:r>
            <a:r>
              <a:rPr lang="en-US" sz="1200" b="1" dirty="0" err="1">
                <a:solidFill>
                  <a:srgbClr val="E2E8F0"/>
                </a:solidFill>
              </a:rPr>
              <a:t>базы</a:t>
            </a:r>
            <a:r>
              <a:rPr lang="en-US" sz="1200" b="1" dirty="0">
                <a:solidFill>
                  <a:srgbClr val="E2E8F0"/>
                </a:solidFill>
              </a:rPr>
              <a:t> </a:t>
            </a:r>
            <a:r>
              <a:rPr lang="en-US" sz="1200" b="1" dirty="0" err="1">
                <a:solidFill>
                  <a:srgbClr val="E2E8F0"/>
                </a:solidFill>
              </a:rPr>
              <a:t>данными</a:t>
            </a:r>
            <a:endParaRPr lang="en-US" sz="1200" dirty="0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514600"/>
            <a:ext cx="274320" cy="27432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30352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Развитие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4937760" y="288036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P1  Избранное, компании, подписки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P2  Импорт с hh.ru API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P2  Трекинг статуса откликов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P2  Web-интерфейс (полный IT-Intern)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532</Words>
  <Application>Microsoft Office PowerPoint</Application>
  <PresentationFormat>Экран (16:9)</PresentationFormat>
  <Paragraphs>117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IT-Intern Bot</dc:title>
  <dc:subject>PptxGenJS Presentation</dc:subject>
  <dc:creator>IT-Intern Team</dc:creator>
  <cp:lastModifiedBy>Даниил Оберюхтин</cp:lastModifiedBy>
  <cp:revision>7</cp:revision>
  <dcterms:created xsi:type="dcterms:W3CDTF">2026-04-01T08:37:38Z</dcterms:created>
  <dcterms:modified xsi:type="dcterms:W3CDTF">2026-04-01T13:40:59Z</dcterms:modified>
</cp:coreProperties>
</file>